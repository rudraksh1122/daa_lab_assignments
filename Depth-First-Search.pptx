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Host Grotesk"/>
      <p:regular r:id="rId201314"/>
    </p:embeddedFont>
    <p:embeddedFont>
      <p:font typeface="Host Grotesk SemiBold"/>
      <p:regular r:id="rId201315"/>
    </p:embeddedFont>
    <p:embeddedFont>
      <p:font typeface="Host Grotesk Bold"/>
      <p:regular r:id="rId201316"/>
    </p:embeddedFont>
    <p:embeddedFont>
      <p:font typeface="Red Hat Mono SemiBold"/>
      <p:regular r:id="rId201317"/>
    </p:embeddedFont>
    <p:embeddedFont>
      <p:font typeface="Sofia Sans Extra Condensed SemiBold"/>
      <p:regular r:id="rId201318"/>
    </p:embeddedFont>
    <p:embeddedFont>
      <p:font typeface="Sofia Sans Extra Condensed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DFS as a graph traversal. It works on graphs and trees, moving through vertices and edges until a path cannot continue, then returning to an earlier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rhythm visible: start, visit, continue deeper, backtrack when stuck, then repeat from the next available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graph slowly. D is a dead end, so DFS returns to B. From B it takes E, then F, and finally reaches C through the remaining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recursive call as the moment DFS goes deeper. The function remembers the current vertex while the next call explores its neighbor.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three key lines: add the vertex to visited, print it, then recursively call dfs for each eligible neighbor.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Recursive DFS uses the language's call stack. Iterative DFS makes that memory visible as a data structure. In both versions, backtracking means returning to an earlier branching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an adjacency list, each vertex and edge is examined a bounded number of times. That gives O(V + E) time. The visited set and traversal stack use O(V) auxiliary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rhythm: Start, Visit, Explore Deeper, Backtrack, Repeat. DFS is a strong tool for structure and reachability, but BFS is the better choice when shortest unweighted paths are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D3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2600"/>
            <a:ext cx="66038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FE83D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GRAPH TRAVERSAL ·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1182" y="1183164"/>
            <a:ext cx="6299042" cy="4023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12000" spc="-60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DEPTH</a:t>
            </a:r>
            <a:endParaRPr lang="en-US" sz="12000" dirty="0"/>
          </a:p>
          <a:p>
            <a:pPr algn="l" indent="0" marL="0">
              <a:lnSpc>
                <a:spcPct val="73000"/>
              </a:lnSpc>
              <a:buNone/>
            </a:pPr>
            <a:r>
              <a:rPr lang="en-US" sz="12000" spc="-60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FIRST</a:t>
            </a:r>
            <a:endParaRPr lang="en-US" sz="12000" dirty="0"/>
          </a:p>
          <a:p>
            <a:pPr algn="l" indent="0" marL="0">
              <a:lnSpc>
                <a:spcPct val="73000"/>
              </a:lnSpc>
              <a:buNone/>
            </a:pPr>
            <a:r>
              <a:rPr lang="en-US" sz="12000" spc="-60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SEARCH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11182" y="5329566"/>
            <a:ext cx="629904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Go deep. Then return.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1182" y="5855494"/>
            <a:ext cx="629904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DFS visits vertices along one path as deeply as possible, then backtracks to try another.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614" y="355600"/>
            <a:ext cx="4267093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DFS EXPLORES DEEPLY, THEN BACKTRACKS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search repeats one simple rhythm.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189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189" y="2108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2963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189" y="2793008"/>
            <a:ext cx="201161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Choose a starting node.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73591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3591" y="2108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0" name="Text 8"/>
          <p:cNvSpPr/>
          <p:nvPr/>
        </p:nvSpPr>
        <p:spPr>
          <a:xfrm>
            <a:off x="2773591" y="22963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Visit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73591" y="2793008"/>
            <a:ext cx="201161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Move to an unvisited neighbor.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89993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89993" y="2108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4" name="Text 12"/>
          <p:cNvSpPr/>
          <p:nvPr/>
        </p:nvSpPr>
        <p:spPr>
          <a:xfrm>
            <a:off x="5089993" y="22963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Go deeper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89993" y="2793008"/>
            <a:ext cx="201161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Keep moving while a new neighbor exists.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395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395" y="2108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395" y="22963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Backtrack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06395" y="2793008"/>
            <a:ext cx="201161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Return to the latest branching point.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22797" y="1752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22797" y="2108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</p:sp>
      <p:sp>
        <p:nvSpPr>
          <p:cNvPr id="22" name="Text 20"/>
          <p:cNvSpPr/>
          <p:nvPr/>
        </p:nvSpPr>
        <p:spPr>
          <a:xfrm>
            <a:off x="9722797" y="22963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Repeat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22797" y="2793008"/>
            <a:ext cx="201161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Stop when every reachable node is visited.</a:t>
            </a:r>
            <a:endParaRPr lang="en-US" sz="20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89" y="3928070"/>
            <a:ext cx="11277318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5735196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EXAMPLE: A → B → D → E → F → 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6192385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Start at A. Check neighbors in alphabetical order.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290" y="1752600"/>
            <a:ext cx="4190895" cy="4190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6430" y="2412943"/>
            <a:ext cx="1350436" cy="25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START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636430" y="2727258"/>
            <a:ext cx="1350436" cy="528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Begin DFS at A, neighbors alphabetical.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70009" y="2412943"/>
            <a:ext cx="1350436" cy="25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TRAVERSE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670009" y="2727258"/>
            <a:ext cx="1350436" cy="528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Visit A→B→D, show arrow and return to B.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36430" y="4446495"/>
            <a:ext cx="1350436" cy="25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CONTINUE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636430" y="4760809"/>
            <a:ext cx="1350436" cy="528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From B→E→F, show arrow then return toward C.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70009" y="4534607"/>
            <a:ext cx="1350436" cy="25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FINISH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670009" y="4848921"/>
            <a:ext cx="1350436" cy="352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Backtrack and visit C to complete traversal.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63851" y="109220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D3BE3"/>
          </a:solidFill>
          <a:ln/>
        </p:spPr>
      </p:sp>
      <p:sp>
        <p:nvSpPr>
          <p:cNvPr id="14" name="Text 11"/>
          <p:cNvSpPr/>
          <p:nvPr/>
        </p:nvSpPr>
        <p:spPr>
          <a:xfrm>
            <a:off x="7726765" y="1168400"/>
            <a:ext cx="6901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122637" y="1125537"/>
            <a:ext cx="361186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 → B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begin the path.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563851" y="195580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D3BE3"/>
          </a:solidFill>
          <a:ln/>
        </p:spPr>
      </p:sp>
      <p:sp>
        <p:nvSpPr>
          <p:cNvPr id="17" name="Text 14"/>
          <p:cNvSpPr/>
          <p:nvPr/>
        </p:nvSpPr>
        <p:spPr>
          <a:xfrm>
            <a:off x="7722201" y="2032000"/>
            <a:ext cx="6992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22637" y="1989137"/>
            <a:ext cx="3611869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 → D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D has no new neighbor.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563851" y="309880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D3BE3"/>
          </a:solidFill>
          <a:ln/>
        </p:spPr>
      </p:sp>
      <p:sp>
        <p:nvSpPr>
          <p:cNvPr id="20" name="Text 17"/>
          <p:cNvSpPr/>
          <p:nvPr/>
        </p:nvSpPr>
        <p:spPr>
          <a:xfrm>
            <a:off x="7721010" y="3175000"/>
            <a:ext cx="70155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122637" y="3132137"/>
            <a:ext cx="3611869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↩</a:t>
            </a:r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 D → B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backtrack.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563851" y="396240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D3BE3"/>
          </a:solidFill>
          <a:ln/>
        </p:spPr>
      </p:sp>
      <p:sp>
        <p:nvSpPr>
          <p:cNvPr id="23" name="Text 20"/>
          <p:cNvSpPr/>
          <p:nvPr/>
        </p:nvSpPr>
        <p:spPr>
          <a:xfrm>
            <a:off x="7719026" y="4038600"/>
            <a:ext cx="7056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122637" y="3995737"/>
            <a:ext cx="361186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 → E → F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continue deeper.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7563851" y="4826000"/>
            <a:ext cx="406390" cy="406400"/>
          </a:xfrm>
          <a:prstGeom prst="roundRect">
            <a:avLst>
              <a:gd name="adj" fmla="val 9375"/>
            </a:avLst>
          </a:prstGeom>
          <a:solidFill>
            <a:srgbClr val="1D3BE3"/>
          </a:solidFill>
          <a:ln/>
        </p:spPr>
      </p:sp>
      <p:sp>
        <p:nvSpPr>
          <p:cNvPr id="26" name="Text 23"/>
          <p:cNvSpPr/>
          <p:nvPr/>
        </p:nvSpPr>
        <p:spPr>
          <a:xfrm>
            <a:off x="7722002" y="4902200"/>
            <a:ext cx="69957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122637" y="4859337"/>
            <a:ext cx="361186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 → C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— visit the final node.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563851" y="5443537"/>
            <a:ext cx="462784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E83D"/>
                </a:highlight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Final order: A → B → D → E → F → C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563851" y="1720850"/>
            <a:ext cx="417065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0" name="Shape 27"/>
          <p:cNvSpPr/>
          <p:nvPr/>
        </p:nvSpPr>
        <p:spPr>
          <a:xfrm>
            <a:off x="7563851" y="2863850"/>
            <a:ext cx="417065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1" name="Shape 28"/>
          <p:cNvSpPr/>
          <p:nvPr/>
        </p:nvSpPr>
        <p:spPr>
          <a:xfrm>
            <a:off x="7563851" y="3727450"/>
            <a:ext cx="4170655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2" name="Shape 29"/>
          <p:cNvSpPr/>
          <p:nvPr/>
        </p:nvSpPr>
        <p:spPr>
          <a:xfrm>
            <a:off x="7563851" y="4591050"/>
            <a:ext cx="4170655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RECURSIVE DFS IN PSEUDOCODE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visited set prevents loops in cyclic graphs.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189" y="1752600"/>
            <a:ext cx="431789" cy="431800"/>
          </a:xfrm>
          <a:prstGeom prst="roundRect">
            <a:avLst>
              <a:gd name="adj" fmla="val 8824"/>
            </a:avLst>
          </a:prstGeom>
          <a:solidFill>
            <a:srgbClr val="1D3BE3"/>
          </a:solidFill>
          <a:ln/>
        </p:spPr>
      </p:sp>
      <p:sp>
        <p:nvSpPr>
          <p:cNvPr id="5" name="Text 3"/>
          <p:cNvSpPr/>
          <p:nvPr/>
        </p:nvSpPr>
        <p:spPr>
          <a:xfrm>
            <a:off x="632801" y="1841500"/>
            <a:ext cx="69014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374" y="1792287"/>
            <a:ext cx="626858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highlight>
                  <a:srgbClr val="F1F4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DFS(graph, vertex)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189" y="2667000"/>
            <a:ext cx="431789" cy="431800"/>
          </a:xfrm>
          <a:prstGeom prst="roundRect">
            <a:avLst>
              <a:gd name="adj" fmla="val 8824"/>
            </a:avLst>
          </a:prstGeom>
          <a:solidFill>
            <a:srgbClr val="1D3BE3"/>
          </a:solidFill>
          <a:ln/>
        </p:spPr>
      </p:sp>
      <p:sp>
        <p:nvSpPr>
          <p:cNvPr id="8" name="Text 6"/>
          <p:cNvSpPr/>
          <p:nvPr/>
        </p:nvSpPr>
        <p:spPr>
          <a:xfrm>
            <a:off x="628237" y="2755900"/>
            <a:ext cx="6992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41374" y="2706687"/>
            <a:ext cx="626858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mark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highlight>
                  <a:srgbClr val="F1F4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vertex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as visited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581400"/>
            <a:ext cx="431789" cy="431800"/>
          </a:xfrm>
          <a:prstGeom prst="roundRect">
            <a:avLst>
              <a:gd name="adj" fmla="val 8824"/>
            </a:avLst>
          </a:prstGeom>
          <a:solidFill>
            <a:srgbClr val="1D3BE3"/>
          </a:solidFill>
          <a:ln/>
        </p:spPr>
      </p:sp>
      <p:sp>
        <p:nvSpPr>
          <p:cNvPr id="11" name="Text 9"/>
          <p:cNvSpPr/>
          <p:nvPr/>
        </p:nvSpPr>
        <p:spPr>
          <a:xfrm>
            <a:off x="627047" y="3670300"/>
            <a:ext cx="701558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41374" y="3621087"/>
            <a:ext cx="626858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print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highlight>
                  <a:srgbClr val="F1F4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vertex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189" y="4495800"/>
            <a:ext cx="431789" cy="431800"/>
          </a:xfrm>
          <a:prstGeom prst="roundRect">
            <a:avLst>
              <a:gd name="adj" fmla="val 8824"/>
            </a:avLst>
          </a:prstGeom>
          <a:solidFill>
            <a:srgbClr val="1D3BE3"/>
          </a:solidFill>
          <a:ln/>
        </p:spPr>
      </p:sp>
      <p:sp>
        <p:nvSpPr>
          <p:cNvPr id="14" name="Text 12"/>
          <p:cNvSpPr/>
          <p:nvPr/>
        </p:nvSpPr>
        <p:spPr>
          <a:xfrm>
            <a:off x="625062" y="4584700"/>
            <a:ext cx="70562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41374" y="4535487"/>
            <a:ext cx="626858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for each neighbor of 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highlight>
                  <a:srgbClr val="F1F4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vertex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5410200"/>
            <a:ext cx="431789" cy="431800"/>
          </a:xfrm>
          <a:prstGeom prst="roundRect">
            <a:avLst>
              <a:gd name="adj" fmla="val 8824"/>
            </a:avLst>
          </a:prstGeom>
          <a:solidFill>
            <a:srgbClr val="1D3BE3"/>
          </a:solidFill>
          <a:ln/>
        </p:spPr>
      </p:sp>
      <p:sp>
        <p:nvSpPr>
          <p:cNvPr id="17" name="Text 15"/>
          <p:cNvSpPr/>
          <p:nvPr/>
        </p:nvSpPr>
        <p:spPr>
          <a:xfrm>
            <a:off x="628039" y="5499100"/>
            <a:ext cx="699574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41374" y="5456237"/>
            <a:ext cx="626858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if neighbor is not visited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189" y="6324600"/>
            <a:ext cx="431789" cy="431800"/>
          </a:xfrm>
          <a:prstGeom prst="roundRect">
            <a:avLst>
              <a:gd name="adj" fmla="val 8824"/>
            </a:avLst>
          </a:prstGeom>
          <a:solidFill>
            <a:srgbClr val="1D3BE3"/>
          </a:solidFill>
          <a:ln/>
        </p:spPr>
      </p:sp>
      <p:sp>
        <p:nvSpPr>
          <p:cNvPr id="20" name="Text 18"/>
          <p:cNvSpPr/>
          <p:nvPr/>
        </p:nvSpPr>
        <p:spPr>
          <a:xfrm>
            <a:off x="624368" y="6413500"/>
            <a:ext cx="7069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fia Sans Extra Condensed SemiBold" pitchFamily="34" charset="0"/>
                <a:ea typeface="Sofia Sans Extra Condensed SemiBold" pitchFamily="34" charset="-122"/>
                <a:cs typeface="Sofia Sans Extra Condensed SemiBold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41374" y="6364287"/>
            <a:ext cx="6268583" cy="336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highlight>
                  <a:srgbClr val="F1F4F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DFS(graph, neighbor)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67046" y="2466975"/>
            <a:ext cx="3967460" cy="3600351"/>
          </a:xfrm>
          <a:prstGeom prst="roundRect">
            <a:avLst>
              <a:gd name="adj" fmla="val 1058"/>
            </a:avLst>
          </a:prstGeom>
          <a:solidFill>
            <a:srgbClr val="B6D6F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1040" y="2760662"/>
            <a:ext cx="396865" cy="3175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71899" y="2801205"/>
            <a:ext cx="280861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Two details matter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671899" y="3289895"/>
            <a:ext cx="2808614" cy="245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Visited set:</a:t>
            </a:r>
            <a:pPr algn="l" indent="0" marL="0">
              <a:lnSpc>
                <a:spcPct val="108000"/>
              </a:lnSpc>
              <a:spcAft>
                <a:spcPts val="11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each vertex is processed once, so cycles cannot cause infinite recursion.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Neighbor order: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changing it can change the traversal order.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457189" y="243205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189" y="334645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189" y="426085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189" y="517525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30" name="Shape 27"/>
          <p:cNvSpPr/>
          <p:nvPr/>
        </p:nvSpPr>
        <p:spPr>
          <a:xfrm>
            <a:off x="457189" y="6089650"/>
            <a:ext cx="6852768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IMPLEMENTING DFS IN PYTHON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An adjacency list keeps the example compact.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189" y="2038350"/>
            <a:ext cx="7033044" cy="8229600"/>
          </a:xfrm>
          <a:prstGeom prst="roundRect">
            <a:avLst>
              <a:gd name="adj" fmla="val 542"/>
            </a:avLst>
          </a:prstGeom>
          <a:solidFill>
            <a:srgbClr val="F1F4FD"/>
          </a:solidFill>
          <a:ln/>
        </p:spPr>
      </p:sp>
      <p:sp>
        <p:nvSpPr>
          <p:cNvPr id="5" name="Text 3"/>
          <p:cNvSpPr/>
          <p:nvPr/>
        </p:nvSpPr>
        <p:spPr>
          <a:xfrm>
            <a:off x="761981" y="2292350"/>
            <a:ext cx="6423460" cy="772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"A": ["B", "C"],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"B": ["A", "D", "E"],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"C": ["A", "F"],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"D": ["B"],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"E": ["B", "F"],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"F": ["C", "E"]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= set()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dfs(vertex):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visited.add(vertex)  # remember this visit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print(vertex, end=" ")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neighbor in graph[vertex]: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neighbor not in visited: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dfs(neighbor)  # go deeper</a:t>
            </a: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endParaRPr lang="en-US" sz="2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20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dfs("A")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47322" y="4427538"/>
            <a:ext cx="1048021" cy="395982"/>
          </a:xfrm>
          <a:prstGeom prst="roundRect">
            <a:avLst>
              <a:gd name="adj" fmla="val 7697"/>
            </a:avLst>
          </a:prstGeom>
          <a:solidFill>
            <a:srgbClr val="1D3BE3"/>
          </a:solidFill>
          <a:ln/>
        </p:spPr>
      </p:sp>
      <p:sp>
        <p:nvSpPr>
          <p:cNvPr id="7" name="Text 5"/>
          <p:cNvSpPr/>
          <p:nvPr/>
        </p:nvSpPr>
        <p:spPr>
          <a:xfrm>
            <a:off x="8099619" y="4514116"/>
            <a:ext cx="135301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OUTPUT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47322" y="5009511"/>
            <a:ext cx="3787184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8400" spc="-42" kern="100" dirty="0">
                <a:solidFill>
                  <a:srgbClr val="000000"/>
                </a:solidFill>
                <a:highlight>
                  <a:srgbClr val="FFE83D"/>
                </a:highlight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A B D E F C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7947322" y="6125766"/>
            <a:ext cx="378718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set stops the search from revisiting A, B, or E through a cycle.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47322" y="7319566"/>
            <a:ext cx="1249629" cy="50701"/>
          </a:xfrm>
          <a:prstGeom prst="roundRect">
            <a:avLst>
              <a:gd name="adj" fmla="val 49999"/>
            </a:avLst>
          </a:prstGeom>
          <a:solidFill>
            <a:srgbClr val="1D3BE3"/>
          </a:solidFill>
          <a:ln/>
        </p:spPr>
      </p:sp>
      <p:sp>
        <p:nvSpPr>
          <p:cNvPr id="11" name="Text 9"/>
          <p:cNvSpPr/>
          <p:nvPr/>
        </p:nvSpPr>
        <p:spPr>
          <a:xfrm>
            <a:off x="7947322" y="7583408"/>
            <a:ext cx="378718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Example graph · start vertex 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RECURSION OR AN EXPLICIT STACK?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201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Both remember where to return.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189" y="1752600"/>
            <a:ext cx="5410065" cy="4628158"/>
          </a:xfrm>
          <a:prstGeom prst="roundRect">
            <a:avLst>
              <a:gd name="adj" fmla="val 823"/>
            </a:avLst>
          </a:prstGeom>
          <a:solidFill>
            <a:srgbClr val="D2D8F9"/>
          </a:solidFill>
          <a:ln/>
        </p:spPr>
      </p:sp>
      <p:sp>
        <p:nvSpPr>
          <p:cNvPr id="5" name="Shape 3"/>
          <p:cNvSpPr/>
          <p:nvPr/>
        </p:nvSpPr>
        <p:spPr>
          <a:xfrm>
            <a:off x="685783" y="1981200"/>
            <a:ext cx="1419686" cy="395982"/>
          </a:xfrm>
          <a:prstGeom prst="roundRect">
            <a:avLst>
              <a:gd name="adj" fmla="val 7697"/>
            </a:avLst>
          </a:prstGeom>
          <a:solidFill>
            <a:srgbClr val="1D3BE3"/>
          </a:solidFill>
          <a:ln/>
        </p:spPr>
      </p:sp>
      <p:sp>
        <p:nvSpPr>
          <p:cNvPr id="6" name="Text 4"/>
          <p:cNvSpPr/>
          <p:nvPr/>
        </p:nvSpPr>
        <p:spPr>
          <a:xfrm>
            <a:off x="838080" y="2067778"/>
            <a:ext cx="172467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RECURSIVE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783" y="2495383"/>
            <a:ext cx="495287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Call stack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83" y="30213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dfs(A)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calls dfs(B)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783" y="38087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dfs(B)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calls dfs(D)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783" y="45961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 returns to 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783" y="53835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 continues with 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783" y="5856903"/>
            <a:ext cx="518147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Call stack stores unfinished calls.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324442" y="1752600"/>
            <a:ext cx="5410065" cy="4628158"/>
          </a:xfrm>
          <a:prstGeom prst="roundRect">
            <a:avLst>
              <a:gd name="adj" fmla="val 823"/>
            </a:avLst>
          </a:prstGeom>
          <a:solidFill>
            <a:srgbClr val="D2D8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553036" y="1981200"/>
            <a:ext cx="1419686" cy="395982"/>
          </a:xfrm>
          <a:prstGeom prst="roundRect">
            <a:avLst>
              <a:gd name="adj" fmla="val 7697"/>
            </a:avLst>
          </a:prstGeom>
          <a:solidFill>
            <a:srgbClr val="1D3BE3"/>
          </a:solidFill>
          <a:ln/>
        </p:spPr>
      </p:sp>
      <p:sp>
        <p:nvSpPr>
          <p:cNvPr id="15" name="Text 13"/>
          <p:cNvSpPr/>
          <p:nvPr/>
        </p:nvSpPr>
        <p:spPr>
          <a:xfrm>
            <a:off x="6705333" y="2067778"/>
            <a:ext cx="172467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16" kern="100" dirty="0">
                <a:solidFill>
                  <a:srgbClr val="FFFFFF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ITERATIVE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3036" y="2495383"/>
            <a:ext cx="4952876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Explicit stack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53036" y="30213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push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53036" y="38087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pop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A; push eligible neighbors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53036" y="45961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pop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next node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53036" y="5383510"/>
            <a:ext cx="495287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repeat until the stack is empty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53036" y="5856903"/>
            <a:ext cx="518147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You control push order.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189" y="6617295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Important: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Push order can change valid DFS sequences.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85783" y="3565823"/>
            <a:ext cx="4952876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783" y="4353223"/>
            <a:ext cx="4952876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783" y="5140623"/>
            <a:ext cx="4952876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553036" y="3565823"/>
            <a:ext cx="4952876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553036" y="4353223"/>
            <a:ext cx="4952876" cy="12700"/>
          </a:xfrm>
          <a:prstGeom prst="rect">
            <a:avLst/>
          </a:prstGeom>
          <a:solidFill>
            <a:srgbClr val="C9D3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553036" y="5140623"/>
            <a:ext cx="4952876" cy="12700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889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DFS IS LINEAR IN THE GRAPH SIZE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189" y="1315720"/>
            <a:ext cx="3606710" cy="2682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12000" spc="-60" kern="1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O(V + E)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189" y="4137819"/>
            <a:ext cx="360671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Time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with an adjacency list.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4611211"/>
            <a:ext cx="36067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44507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 = vertices · E = edges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5117604"/>
            <a:ext cx="1190099" cy="50701"/>
          </a:xfrm>
          <a:prstGeom prst="roundRect">
            <a:avLst>
              <a:gd name="adj" fmla="val 49999"/>
            </a:avLst>
          </a:prstGeom>
          <a:solidFill>
            <a:srgbClr val="1D3BE3"/>
          </a:solidFill>
          <a:ln/>
        </p:spPr>
      </p:sp>
      <p:sp>
        <p:nvSpPr>
          <p:cNvPr id="7" name="Text 5"/>
          <p:cNvSpPr/>
          <p:nvPr/>
        </p:nvSpPr>
        <p:spPr>
          <a:xfrm>
            <a:off x="457189" y="5543308"/>
            <a:ext cx="3606710" cy="938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8400" spc="-42" kern="1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O(V)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457189" y="6659562"/>
            <a:ext cx="360671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Space</a:t>
            </a:r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for the visited set and standard traversal stack.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1087" y="1193800"/>
            <a:ext cx="634984" cy="63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1087" y="1994755"/>
            <a:ext cx="119883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Maze solving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521087" y="2812653"/>
            <a:ext cx="119883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Explore one route, then return at dead ends.</a:t>
            </a:r>
            <a:endParaRPr lang="en-US" sz="2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709" y="1193800"/>
            <a:ext cx="634984" cy="635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24709" y="1994755"/>
            <a:ext cx="119883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Cycle detection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024709" y="2812653"/>
            <a:ext cx="119883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Track visited nodes and back edges.</a:t>
            </a:r>
            <a:endParaRPr lang="en-US" sz="2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332" y="1193800"/>
            <a:ext cx="634984" cy="635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28332" y="1994755"/>
            <a:ext cx="119883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Components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528332" y="2812653"/>
            <a:ext cx="119883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Find every node reachable from a start.</a:t>
            </a:r>
            <a:endParaRPr lang="en-US" sz="2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1955" y="1193800"/>
            <a:ext cx="634984" cy="635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31955" y="1994755"/>
            <a:ext cx="1198830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Topological sorting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031955" y="3133923"/>
            <a:ext cx="119883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Order tasks in a DAG.</a:t>
            </a:r>
            <a:endParaRPr lang="en-US" sz="2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5577" y="1193800"/>
            <a:ext cx="634984" cy="635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535577" y="1994755"/>
            <a:ext cx="1198929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Path exploration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10535577" y="3133923"/>
            <a:ext cx="119892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Search possible routes through a structure.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80943"/>
            <a:ext cx="61974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20" kern="100" dirty="0">
                <a:solidFill>
                  <a:srgbClr val="FFE83D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TAKEAWAY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1182" y="1063978"/>
            <a:ext cx="5841854" cy="187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3000"/>
              </a:lnSpc>
              <a:buNone/>
            </a:pPr>
            <a:r>
              <a:rPr lang="en-US" sz="8400" spc="-42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GO DEEP,</a:t>
            </a:r>
            <a:endParaRPr lang="en-US" sz="8400" dirty="0"/>
          </a:p>
          <a:p>
            <a:pPr algn="l" indent="0" marL="0">
              <a:lnSpc>
                <a:spcPct val="73000"/>
              </a:lnSpc>
              <a:buNone/>
            </a:pPr>
            <a:r>
              <a:rPr lang="en-US" sz="8400" spc="-42" kern="100" dirty="0">
                <a:solidFill>
                  <a:srgbClr val="FFFFFF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THEN RETURN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711182" y="3111004"/>
            <a:ext cx="5841854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DFS is simple and useful for exploring graph structure.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E83D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It does not guarantee the shortest path in an unweighted graph.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137221" y="457200"/>
            <a:ext cx="2273243" cy="4319191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6" name="Text 4"/>
          <p:cNvSpPr/>
          <p:nvPr/>
        </p:nvSpPr>
        <p:spPr>
          <a:xfrm>
            <a:off x="7365816" y="651601"/>
            <a:ext cx="181605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DFS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65816" y="1169591"/>
            <a:ext cx="181605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Explores depth first.</a:t>
            </a:r>
            <a:endParaRPr lang="en-US" sz="2000" dirty="0"/>
          </a:p>
          <a:p>
            <a:pPr algn="l" indent="0" marL="0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Recursive versions can hit stack-depth limits.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Order depends on neighbor ordering.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410465" y="457200"/>
            <a:ext cx="2273243" cy="4319191"/>
          </a:xfrm>
          <a:prstGeom prst="rect">
            <a:avLst/>
          </a:prstGeom>
          <a:solidFill>
            <a:srgbClr val="F1F4FD"/>
          </a:solidFill>
          <a:ln/>
        </p:spPr>
      </p:sp>
      <p:sp>
        <p:nvSpPr>
          <p:cNvPr id="9" name="Text 7"/>
          <p:cNvSpPr/>
          <p:nvPr/>
        </p:nvSpPr>
        <p:spPr>
          <a:xfrm>
            <a:off x="9639059" y="1261201"/>
            <a:ext cx="181605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BFS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39059" y="1779191"/>
            <a:ext cx="1816055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Explores level by level.</a:t>
            </a:r>
            <a:endParaRPr lang="en-US" sz="2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Finds shortest paths in unweighted graphs.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-3784505" y="5936121"/>
            <a:ext cx="1127731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Start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-3784505" y="7171791"/>
            <a:ext cx="1127731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Visit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-3784505" y="8407461"/>
            <a:ext cx="1127731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Explore deeper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-3784505" y="9643131"/>
            <a:ext cx="1127731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Backtrack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-3784505" y="10878802"/>
            <a:ext cx="1127731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Repeat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404115" y="457200"/>
            <a:ext cx="12700" cy="4319191"/>
          </a:xfrm>
          <a:prstGeom prst="rect">
            <a:avLst/>
          </a:prstGeom>
          <a:solidFill>
            <a:srgbClr val="C9D3F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2026-10-21T10:18:01Z</dcterms:created>
  <dcterms:modified xsi:type="dcterms:W3CDTF">2026-10-21T10:18:01Z</dcterms:modified>
</cp:coreProperties>
</file>